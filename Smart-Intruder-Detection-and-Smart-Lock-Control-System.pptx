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003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0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Relationship Id="rId14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1667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Smart Intruder Detection and Smart Lock Control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45448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Bhavik Talwar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2410994778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Project Artefact Presentation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89" y="559689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SIT210 – Embedded Systems Development</a:t>
            </a:r>
            <a:endParaRPr lang="en-US" sz="1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233E5-46F0-0B08-238F-7091ECF51A88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248"/>
            <a:ext cx="53032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Purpose of the System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6616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intelligent security system revolutionizes home and office door security through automation and real-time monitoring. It combines motion detection with facial recognition to identify visitors instantly, providing seamless access for authorized users while alerting owners to unknown persons.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42022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9768" y="304800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6DED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3211592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38416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Motion Detection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4270891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Automatically detects movement and activates facial recognition in real time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4379" y="2842022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20357" y="304800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6DE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4068" y="3211592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0357" y="384167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Instant Alerts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620357" y="4270891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Sends immediate notifications for unknown persons via email and Telegram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3790" y="5310307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99768" y="551628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6DED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3479" y="5679877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9768" y="63099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Remote Control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99768" y="6739176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Allows secure remote unlock via Telegram or MQTT from anywhere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414379" y="5310307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20357" y="551628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E6DED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4068" y="5679877"/>
            <a:ext cx="267891" cy="2678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0357" y="63099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Event Logging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7620357" y="6739176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Maintains comprehensive local logs for accountability and security audits</a:t>
            </a:r>
            <a:endParaRPr lang="en-US" sz="15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94562-B3CB-2C9D-6DAA-93CEB3C5D0A7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055" y="302538"/>
            <a:ext cx="3096935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Hardware Components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0055" y="910352"/>
            <a:ext cx="8142803" cy="35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The system integrates multiple hardware components working in harmony to deliver robust security functionality. Each component plays a critical role in the detection, recognition, and control pipeline.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055" y="1399699"/>
            <a:ext cx="110014" cy="1100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0055" y="1557695"/>
            <a:ext cx="8142803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3"/>
          <p:cNvSpPr/>
          <p:nvPr/>
        </p:nvSpPr>
        <p:spPr>
          <a:xfrm>
            <a:off x="440055" y="1643182"/>
            <a:ext cx="1375410" cy="17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Raspberry Pi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40055" y="1925003"/>
            <a:ext cx="814280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Main controller running facial recognition algorithms and cloud functions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055" y="2307193"/>
            <a:ext cx="110014" cy="1100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0055" y="2465189"/>
            <a:ext cx="8142803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6"/>
          <p:cNvSpPr/>
          <p:nvPr/>
        </p:nvSpPr>
        <p:spPr>
          <a:xfrm>
            <a:off x="440055" y="2550676"/>
            <a:ext cx="1375410" cy="17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PIR Sensor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40055" y="2832497"/>
            <a:ext cx="814280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Detects motion to trigger camera activation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055" y="3214688"/>
            <a:ext cx="110014" cy="11001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0055" y="3372683"/>
            <a:ext cx="8142803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4" name="Text 9"/>
          <p:cNvSpPr/>
          <p:nvPr/>
        </p:nvSpPr>
        <p:spPr>
          <a:xfrm>
            <a:off x="440055" y="3458170"/>
            <a:ext cx="1375410" cy="17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Pi Camera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40055" y="3739991"/>
            <a:ext cx="814280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Captures high-quality images for facial recognition 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0055" y="4122182"/>
            <a:ext cx="110014" cy="11001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40055" y="4280178"/>
            <a:ext cx="8142803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2"/>
          <p:cNvSpPr/>
          <p:nvPr/>
        </p:nvSpPr>
        <p:spPr>
          <a:xfrm>
            <a:off x="440055" y="4365665"/>
            <a:ext cx="1390055" cy="17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Arduino Nano 33 IoT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40055" y="4647486"/>
            <a:ext cx="814280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Manages lock control via Bluetooth Low Energy communication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0055" y="5029676"/>
            <a:ext cx="110014" cy="11001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40055" y="5187672"/>
            <a:ext cx="8142803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2" name="Text 15"/>
          <p:cNvSpPr/>
          <p:nvPr/>
        </p:nvSpPr>
        <p:spPr>
          <a:xfrm>
            <a:off x="440055" y="5273159"/>
            <a:ext cx="1446848" cy="17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Relay + Solenoid Lock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440055" y="5554980"/>
            <a:ext cx="814280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Physical locking mechanism controlled electronically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0055" y="5937171"/>
            <a:ext cx="110014" cy="11001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40055" y="6095167"/>
            <a:ext cx="8142803" cy="1524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6" name="Text 18"/>
          <p:cNvSpPr/>
          <p:nvPr/>
        </p:nvSpPr>
        <p:spPr>
          <a:xfrm>
            <a:off x="440055" y="6180653"/>
            <a:ext cx="1375410" cy="171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Status LEDs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40055" y="6462474"/>
            <a:ext cx="814280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Visual indicators: green for unlock, red for intruder 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845" y="935117"/>
            <a:ext cx="5339001" cy="4148257"/>
          </a:xfrm>
          <a:prstGeom prst="rect">
            <a:avLst/>
          </a:prstGeom>
        </p:spPr>
      </p:pic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8845" y="5207079"/>
            <a:ext cx="5339001" cy="3003113"/>
          </a:xfrm>
          <a:prstGeom prst="rect">
            <a:avLst/>
          </a:prstGeom>
        </p:spPr>
      </p:pic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8845" y="8333899"/>
            <a:ext cx="2681764" cy="15084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6CD5A0-0092-9242-E8D4-440C8369D95B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C3B32-57EE-599D-D34E-26918BA26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5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917" y="461248"/>
            <a:ext cx="8235553" cy="524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Network &amp; Communication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70917" y="1320760"/>
            <a:ext cx="13288566" cy="536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employs a multi-layered communication strategy to ensure reliable operation across local and cloud environments. This architecture enables real-time control, remote monitoring, and persistent data storage.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70917" y="2046208"/>
            <a:ext cx="13288566" cy="1012031"/>
          </a:xfrm>
          <a:prstGeom prst="roundRect">
            <a:avLst>
              <a:gd name="adj" fmla="val 6962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3777" y="2069068"/>
            <a:ext cx="670917" cy="966311"/>
          </a:xfrm>
          <a:prstGeom prst="roundRect">
            <a:avLst>
              <a:gd name="adj" fmla="val 6413"/>
            </a:avLst>
          </a:prstGeom>
          <a:solidFill>
            <a:srgbClr val="E6DED2">
              <a:alpha val="50000"/>
            </a:srgbClr>
          </a:solidFill>
          <a:ln/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636" y="2426375"/>
            <a:ext cx="251579" cy="2515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2334" y="2236708"/>
            <a:ext cx="2096929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BLE Communication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532334" y="2599373"/>
            <a:ext cx="12236648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Bluetooth Low Energy enables efficient Pi to Arduino communication for lock/unlock commands with minimal power consumption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0917" y="3225879"/>
            <a:ext cx="13288566" cy="1012031"/>
          </a:xfrm>
          <a:prstGeom prst="roundRect">
            <a:avLst>
              <a:gd name="adj" fmla="val 6962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3777" y="3248739"/>
            <a:ext cx="670917" cy="966311"/>
          </a:xfrm>
          <a:prstGeom prst="roundRect">
            <a:avLst>
              <a:gd name="adj" fmla="val 6413"/>
            </a:avLst>
          </a:prstGeom>
          <a:solidFill>
            <a:srgbClr val="E6DED2">
              <a:alpha val="50000"/>
            </a:srgbClr>
          </a:solidFill>
          <a:ln/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636" y="3606046"/>
            <a:ext cx="251579" cy="2515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2334" y="3416379"/>
            <a:ext cx="2096929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Cloud Integration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532334" y="3779044"/>
            <a:ext cx="12236648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Dropbox API securely stores captured intruder images with automatic upload and link generation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70917" y="4405551"/>
            <a:ext cx="13288566" cy="1012031"/>
          </a:xfrm>
          <a:prstGeom prst="roundRect">
            <a:avLst>
              <a:gd name="adj" fmla="val 6962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3777" y="4428411"/>
            <a:ext cx="670917" cy="966311"/>
          </a:xfrm>
          <a:prstGeom prst="roundRect">
            <a:avLst>
              <a:gd name="adj" fmla="val 6413"/>
            </a:avLst>
          </a:prstGeom>
          <a:solidFill>
            <a:srgbClr val="E6DED2">
              <a:alpha val="50000"/>
            </a:srgbClr>
          </a:solidFill>
          <a:ln/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636" y="4785717"/>
            <a:ext cx="251579" cy="25157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2334" y="4596051"/>
            <a:ext cx="2096929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Alert System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532334" y="4958715"/>
            <a:ext cx="12236648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Notification channel via Email deliver instant alerts with image links to the owner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70917" y="5585222"/>
            <a:ext cx="13288566" cy="1012031"/>
          </a:xfrm>
          <a:prstGeom prst="roundRect">
            <a:avLst>
              <a:gd name="adj" fmla="val 6962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3777" y="5608082"/>
            <a:ext cx="670917" cy="966311"/>
          </a:xfrm>
          <a:prstGeom prst="roundRect">
            <a:avLst>
              <a:gd name="adj" fmla="val 6413"/>
            </a:avLst>
          </a:prstGeom>
          <a:solidFill>
            <a:srgbClr val="E6DED2">
              <a:alpha val="50000"/>
            </a:srgbClr>
          </a:solidFill>
          <a:ln/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636" y="5965388"/>
            <a:ext cx="251579" cy="25157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2334" y="5775722"/>
            <a:ext cx="2096929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Manual Override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1532334" y="6138386"/>
            <a:ext cx="12236648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Owner can send "/unlock" command via Telegram bot or MQTT protocol for remote access control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70917" y="6764893"/>
            <a:ext cx="13288566" cy="1012031"/>
          </a:xfrm>
          <a:prstGeom prst="roundRect">
            <a:avLst>
              <a:gd name="adj" fmla="val 6962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1524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3777" y="6787753"/>
            <a:ext cx="670917" cy="966311"/>
          </a:xfrm>
          <a:prstGeom prst="roundRect">
            <a:avLst>
              <a:gd name="adj" fmla="val 6413"/>
            </a:avLst>
          </a:prstGeom>
          <a:solidFill>
            <a:srgbClr val="E6DED2">
              <a:alpha val="50000"/>
            </a:srgbClr>
          </a:solidFill>
          <a:ln/>
          <a:effectLst>
            <a:outerShdw dist="1524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9636" y="7145060"/>
            <a:ext cx="251579" cy="25157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32334" y="6955393"/>
            <a:ext cx="2096929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Local Logging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1532334" y="7318058"/>
            <a:ext cx="12236648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CSV log file records timestamp, action type, confidence level, and image path for every event</a:t>
            </a:r>
            <a:endParaRPr lang="en-US" sz="13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E6D158-ADC1-F5E0-6847-7845B2B656A2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803" y="465058"/>
            <a:ext cx="4055150" cy="408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Overall System Operation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2803" y="1134904"/>
            <a:ext cx="13584793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follows a streamlined workflow from motion detection to door control, ensuring security while maintaining user convenience. Each step is optimized for speed and reliability.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53534" y="1686997"/>
            <a:ext cx="130612" cy="588169"/>
          </a:xfrm>
          <a:prstGeom prst="roundRect">
            <a:avLst>
              <a:gd name="adj" fmla="val 4203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2803" y="1601272"/>
            <a:ext cx="392073" cy="392073"/>
          </a:xfrm>
          <a:prstGeom prst="roundRect">
            <a:avLst>
              <a:gd name="adj" fmla="val 116611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792" y="1699379"/>
            <a:ext cx="195977" cy="1959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488" y="1621631"/>
            <a:ext cx="16338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Motion Detection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45488" y="1904167"/>
            <a:ext cx="13062109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PIR sensor detects movement in the monitored area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49511" y="2601873"/>
            <a:ext cx="130612" cy="588169"/>
          </a:xfrm>
          <a:prstGeom prst="roundRect">
            <a:avLst>
              <a:gd name="adj" fmla="val 4203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8780" y="2516148"/>
            <a:ext cx="392073" cy="392073"/>
          </a:xfrm>
          <a:prstGeom prst="roundRect">
            <a:avLst>
              <a:gd name="adj" fmla="val 116611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769" y="2614255"/>
            <a:ext cx="195977" cy="1959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1465" y="2536508"/>
            <a:ext cx="16338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Image Capture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241465" y="2819043"/>
            <a:ext cx="12866132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Camera activates and captures a frame for analysis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045607" y="3516749"/>
            <a:ext cx="130612" cy="588169"/>
          </a:xfrm>
          <a:prstGeom prst="roundRect">
            <a:avLst>
              <a:gd name="adj" fmla="val 4203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876" y="3431024"/>
            <a:ext cx="392073" cy="392073"/>
          </a:xfrm>
          <a:prstGeom prst="roundRect">
            <a:avLst>
              <a:gd name="adj" fmla="val 116611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65" y="3529132"/>
            <a:ext cx="195977" cy="19597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7561" y="3451384"/>
            <a:ext cx="16338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Face Recognition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437561" y="3733919"/>
            <a:ext cx="12670036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System checks captured face against known user database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241703" y="4431625"/>
            <a:ext cx="130612" cy="588169"/>
          </a:xfrm>
          <a:prstGeom prst="roundRect">
            <a:avLst>
              <a:gd name="adj" fmla="val 4203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10972" y="4345900"/>
            <a:ext cx="392073" cy="392073"/>
          </a:xfrm>
          <a:prstGeom prst="roundRect">
            <a:avLst>
              <a:gd name="adj" fmla="val 116611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8961" y="4444008"/>
            <a:ext cx="195977" cy="19597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33657" y="4366260"/>
            <a:ext cx="16338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Known User Path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633657" y="4648795"/>
            <a:ext cx="12473940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If recognized, door unlocks automatically for seamless entry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045607" y="5346502"/>
            <a:ext cx="130612" cy="588169"/>
          </a:xfrm>
          <a:prstGeom prst="roundRect">
            <a:avLst>
              <a:gd name="adj" fmla="val 4203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876" y="5260777"/>
            <a:ext cx="392073" cy="392073"/>
          </a:xfrm>
          <a:prstGeom prst="roundRect">
            <a:avLst>
              <a:gd name="adj" fmla="val 116611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2865" y="5358884"/>
            <a:ext cx="195977" cy="19597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37561" y="5281136"/>
            <a:ext cx="16338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Unknown User Path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437561" y="5563672"/>
            <a:ext cx="12670036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If unrecognized, captures image, uploads to cloud, and sends alert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49511" y="6261378"/>
            <a:ext cx="130612" cy="588169"/>
          </a:xfrm>
          <a:prstGeom prst="roundRect">
            <a:avLst>
              <a:gd name="adj" fmla="val 4203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18780" y="6175653"/>
            <a:ext cx="392073" cy="392073"/>
          </a:xfrm>
          <a:prstGeom prst="roundRect">
            <a:avLst>
              <a:gd name="adj" fmla="val 116611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6769" y="6273760"/>
            <a:ext cx="195977" cy="19597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41465" y="6196013"/>
            <a:ext cx="16338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Remote Override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241465" y="6478548"/>
            <a:ext cx="12866132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can manually unlock remotely via Telegram or MQTT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53534" y="7176254"/>
            <a:ext cx="130612" cy="588169"/>
          </a:xfrm>
          <a:prstGeom prst="roundRect">
            <a:avLst>
              <a:gd name="adj" fmla="val 42033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22803" y="7090529"/>
            <a:ext cx="392073" cy="392073"/>
          </a:xfrm>
          <a:prstGeom prst="roundRect">
            <a:avLst>
              <a:gd name="adj" fmla="val 116611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1430" dir="2700000" algn="bl" rotWithShape="0">
              <a:srgbClr val="CCC4B8">
                <a:alpha val="100000"/>
              </a:srgbClr>
            </a:outerShdw>
          </a:effectLst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0792" y="7188637"/>
            <a:ext cx="195977" cy="19597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45488" y="7110889"/>
            <a:ext cx="16338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Event Logging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045488" y="7393424"/>
            <a:ext cx="13062109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 events logged locally with full details for audit trail</a:t>
            </a:r>
            <a:endParaRPr 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213C85-828F-DB36-921E-6BC164A6B4AC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59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074" y="2523172"/>
            <a:ext cx="5135761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Fault Tolerance Mechanisms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95074" y="3211235"/>
            <a:ext cx="1344025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Robust fault tolerance ensures the system remains operational even when individual components or network connections fail. Multiple redundancy layers protect against common failure modes.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95074" y="4022050"/>
            <a:ext cx="6538674" cy="947142"/>
          </a:xfrm>
          <a:prstGeom prst="roundRect">
            <a:avLst>
              <a:gd name="adj" fmla="val 7723"/>
            </a:avLst>
          </a:prstGeom>
          <a:solidFill>
            <a:srgbClr val="FDFBF7"/>
          </a:solidFill>
          <a:ln w="15240">
            <a:solidFill>
              <a:srgbClr val="9C9283"/>
            </a:solidFill>
            <a:prstDash val="solid"/>
          </a:ln>
          <a:effectLst>
            <a:outerShdw dist="12700" dir="27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9834" y="4022050"/>
            <a:ext cx="60960" cy="947142"/>
          </a:xfrm>
          <a:prstGeom prst="roundRect">
            <a:avLst>
              <a:gd name="adj" fmla="val 102516"/>
            </a:avLst>
          </a:prstGeom>
          <a:solidFill>
            <a:srgbClr val="9C9283"/>
          </a:solidFill>
          <a:ln/>
        </p:spPr>
      </p:sp>
      <p:sp>
        <p:nvSpPr>
          <p:cNvPr id="7" name="Text 4"/>
          <p:cNvSpPr/>
          <p:nvPr/>
        </p:nvSpPr>
        <p:spPr>
          <a:xfrm>
            <a:off x="804743" y="4185999"/>
            <a:ext cx="2205395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Local Logging Resilience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743" y="4567118"/>
            <a:ext cx="61650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CSV logging continues even if cloud or network fails, ensuring no event data is lost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5074" y="5117902"/>
            <a:ext cx="6538674" cy="1185267"/>
          </a:xfrm>
          <a:prstGeom prst="roundRect">
            <a:avLst>
              <a:gd name="adj" fmla="val 6172"/>
            </a:avLst>
          </a:prstGeom>
          <a:solidFill>
            <a:srgbClr val="FDFBF7"/>
          </a:solidFill>
          <a:ln w="15240">
            <a:solidFill>
              <a:srgbClr val="6F7F71"/>
            </a:solidFill>
            <a:prstDash val="solid"/>
          </a:ln>
          <a:effectLst>
            <a:outerShdw dist="12700" dir="2700000" algn="bl" rotWithShape="0">
              <a:srgbClr val="6F7F71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9834" y="5117902"/>
            <a:ext cx="60960" cy="1185267"/>
          </a:xfrm>
          <a:prstGeom prst="roundRect">
            <a:avLst>
              <a:gd name="adj" fmla="val 102516"/>
            </a:avLst>
          </a:prstGeom>
          <a:solidFill>
            <a:srgbClr val="6F7F71"/>
          </a:solidFill>
          <a:ln/>
        </p:spPr>
      </p:sp>
      <p:sp>
        <p:nvSpPr>
          <p:cNvPr id="11" name="Text 8"/>
          <p:cNvSpPr/>
          <p:nvPr/>
        </p:nvSpPr>
        <p:spPr>
          <a:xfrm>
            <a:off x="804743" y="5281851"/>
            <a:ext cx="2096929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Background Processing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04743" y="5662970"/>
            <a:ext cx="616505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Dropbox uploads run in background threads, preventing system freezes during network delays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5074" y="6451878"/>
            <a:ext cx="6538674" cy="947142"/>
          </a:xfrm>
          <a:prstGeom prst="roundRect">
            <a:avLst>
              <a:gd name="adj" fmla="val 7723"/>
            </a:avLst>
          </a:prstGeom>
          <a:solidFill>
            <a:srgbClr val="FDFBF7"/>
          </a:solidFill>
          <a:ln w="15240">
            <a:solidFill>
              <a:srgbClr val="A8B8A2"/>
            </a:solidFill>
            <a:prstDash val="solid"/>
          </a:ln>
          <a:effectLst>
            <a:outerShdw dist="12700" dir="2700000" algn="bl" rotWithShape="0">
              <a:srgbClr val="A8B8A2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9834" y="6451878"/>
            <a:ext cx="60960" cy="947142"/>
          </a:xfrm>
          <a:prstGeom prst="roundRect">
            <a:avLst>
              <a:gd name="adj" fmla="val 102516"/>
            </a:avLst>
          </a:prstGeom>
          <a:solidFill>
            <a:srgbClr val="A8B8A2"/>
          </a:solidFill>
          <a:ln/>
        </p:spPr>
      </p:sp>
      <p:sp>
        <p:nvSpPr>
          <p:cNvPr id="15" name="Text 12"/>
          <p:cNvSpPr/>
          <p:nvPr/>
        </p:nvSpPr>
        <p:spPr>
          <a:xfrm>
            <a:off x="804743" y="6615827"/>
            <a:ext cx="1859875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BLE Retry Logic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04743" y="6996946"/>
            <a:ext cx="61650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Automatic retry mechanism handles temporary Bluetooth connection drops gracefully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504271" y="4022050"/>
            <a:ext cx="6538674" cy="947142"/>
          </a:xfrm>
          <a:prstGeom prst="roundRect">
            <a:avLst>
              <a:gd name="adj" fmla="val 7723"/>
            </a:avLst>
          </a:prstGeom>
          <a:solidFill>
            <a:srgbClr val="FDFBF7"/>
          </a:solidFill>
          <a:ln w="15240">
            <a:solidFill>
              <a:srgbClr val="9C9283"/>
            </a:solidFill>
            <a:prstDash val="solid"/>
          </a:ln>
          <a:effectLst>
            <a:outerShdw dist="12700" dir="27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89031" y="4022050"/>
            <a:ext cx="60960" cy="947142"/>
          </a:xfrm>
          <a:prstGeom prst="roundRect">
            <a:avLst>
              <a:gd name="adj" fmla="val 102516"/>
            </a:avLst>
          </a:prstGeom>
          <a:solidFill>
            <a:srgbClr val="9C9283"/>
          </a:solidFill>
          <a:ln/>
        </p:spPr>
      </p:sp>
      <p:sp>
        <p:nvSpPr>
          <p:cNvPr id="19" name="Text 16"/>
          <p:cNvSpPr/>
          <p:nvPr/>
        </p:nvSpPr>
        <p:spPr>
          <a:xfrm>
            <a:off x="7713940" y="4185999"/>
            <a:ext cx="1859875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Camera Protection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713940" y="4567118"/>
            <a:ext cx="61650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Auto-sleep mode when idle prevents camera overheating during extended operation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504271" y="5117902"/>
            <a:ext cx="6538674" cy="947142"/>
          </a:xfrm>
          <a:prstGeom prst="roundRect">
            <a:avLst>
              <a:gd name="adj" fmla="val 7723"/>
            </a:avLst>
          </a:prstGeom>
          <a:solidFill>
            <a:srgbClr val="FDFBF7"/>
          </a:solidFill>
          <a:ln w="15240">
            <a:solidFill>
              <a:srgbClr val="6F7F71"/>
            </a:solidFill>
            <a:prstDash val="solid"/>
          </a:ln>
          <a:effectLst>
            <a:outerShdw dist="12700" dir="2700000" algn="bl" rotWithShape="0">
              <a:srgbClr val="6F7F71">
                <a:alpha val="10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89031" y="5117902"/>
            <a:ext cx="60960" cy="947142"/>
          </a:xfrm>
          <a:prstGeom prst="roundRect">
            <a:avLst>
              <a:gd name="adj" fmla="val 102516"/>
            </a:avLst>
          </a:prstGeom>
          <a:solidFill>
            <a:srgbClr val="6F7F71"/>
          </a:solidFill>
          <a:ln/>
        </p:spPr>
      </p:sp>
      <p:sp>
        <p:nvSpPr>
          <p:cNvPr id="23" name="Text 20"/>
          <p:cNvSpPr/>
          <p:nvPr/>
        </p:nvSpPr>
        <p:spPr>
          <a:xfrm>
            <a:off x="7713940" y="5281851"/>
            <a:ext cx="1859875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Network Recovery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713940" y="5662970"/>
            <a:ext cx="61650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Automatic reconnection handles network interruptions without manual intervention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504271" y="6213753"/>
            <a:ext cx="6538674" cy="947142"/>
          </a:xfrm>
          <a:prstGeom prst="roundRect">
            <a:avLst>
              <a:gd name="adj" fmla="val 7723"/>
            </a:avLst>
          </a:prstGeom>
          <a:solidFill>
            <a:srgbClr val="FDFBF7"/>
          </a:solidFill>
          <a:ln w="15240">
            <a:solidFill>
              <a:srgbClr val="A8B8A2"/>
            </a:solidFill>
            <a:prstDash val="solid"/>
          </a:ln>
          <a:effectLst>
            <a:outerShdw dist="12700" dir="2700000" algn="bl" rotWithShape="0">
              <a:srgbClr val="A8B8A2">
                <a:alpha val="10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89031" y="6213753"/>
            <a:ext cx="60960" cy="947142"/>
          </a:xfrm>
          <a:prstGeom prst="roundRect">
            <a:avLst>
              <a:gd name="adj" fmla="val 102516"/>
            </a:avLst>
          </a:prstGeom>
          <a:solidFill>
            <a:srgbClr val="A8B8A2"/>
          </a:solidFill>
          <a:ln/>
        </p:spPr>
      </p:sp>
      <p:sp>
        <p:nvSpPr>
          <p:cNvPr id="27" name="Text 24"/>
          <p:cNvSpPr/>
          <p:nvPr/>
        </p:nvSpPr>
        <p:spPr>
          <a:xfrm>
            <a:off x="7713940" y="6377702"/>
            <a:ext cx="2010251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Independent Override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713940" y="6758821"/>
            <a:ext cx="616505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MQTT/Telegram unlock remains active independently of recognition system</a:t>
            </a:r>
            <a:endParaRPr lang="en-US" sz="11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136868-9839-B5E0-5A02-4A04EB6AF068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2918"/>
            <a:ext cx="60886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Demonstration Summary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5983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demonstration validates all core functionalities, from automated recognition to manual override capabilities. Each feature performed reliably under test conditions.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18153"/>
            <a:ext cx="4215289" cy="1793796"/>
          </a:xfrm>
          <a:prstGeom prst="roundRect">
            <a:avLst>
              <a:gd name="adj" fmla="val 46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9768" y="35241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Motion to Camera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953351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PIR sensor successfully triggers camera activation upon detecting movement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318153"/>
            <a:ext cx="4215408" cy="1793796"/>
          </a:xfrm>
          <a:prstGeom prst="roundRect">
            <a:avLst>
              <a:gd name="adj" fmla="val 46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13415" y="35241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Auto Unlock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3953351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Known users are recognized and door unlocks automatically without delay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318153"/>
            <a:ext cx="4215289" cy="1793796"/>
          </a:xfrm>
          <a:prstGeom prst="roundRect">
            <a:avLst>
              <a:gd name="adj" fmla="val 46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27181" y="35241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Intruder Alert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3953351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Unknown users trigger email and Telegram alerts with cloud-hosted image links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310307"/>
            <a:ext cx="6422112" cy="1476256"/>
          </a:xfrm>
          <a:prstGeom prst="roundRect">
            <a:avLst>
              <a:gd name="adj" fmla="val 56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99768" y="55162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Remote Control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9768" y="5945505"/>
            <a:ext cx="6010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unlock via Telegram "/unlock" command functions reliably from remote location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260" y="5310307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20238" y="55162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Logging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20238" y="594550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Local CSV logging confirmed with accurate timestamps and event details</a:t>
            </a:r>
            <a:endParaRPr lang="en-US" sz="15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1F36A1-E0DF-DCC7-00CB-D066315E8E2D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9310"/>
            <a:ext cx="61451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Reflection &amp; Future Work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654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Learnings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835831"/>
            <a:ext cx="695563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project provided invaluable hands-on experience integrating sensors, computer vision, and IoT protocols into a cohesive embedded system. Key challenges included optimizing CPU performance for real-time facial recognition and establishing reliable BLE communication between the Raspberry Pi and Arduino.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602123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118021"/>
            <a:ext cx="31893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Future Enhancements</a:t>
            </a:r>
            <a:endParaRPr lang="en-US" sz="2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204" y="5719405"/>
            <a:ext cx="297656" cy="297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8632" y="57133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Advanced Detection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38632" y="6221849"/>
            <a:ext cx="63107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Add mask detection and person counting capabilities for enhanced security</a:t>
            </a:r>
            <a:endParaRPr lang="en-US" sz="15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149" y="2290286"/>
            <a:ext cx="5602962" cy="35384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BCCE96-AFD8-FBE0-F182-1495B8F358E0}"/>
              </a:ext>
            </a:extLst>
          </p:cNvPr>
          <p:cNvSpPr txBox="1"/>
          <p:nvPr/>
        </p:nvSpPr>
        <p:spPr>
          <a:xfrm>
            <a:off x="12790449" y="7672039"/>
            <a:ext cx="1750741" cy="5575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714</Words>
  <Application>Microsoft Office PowerPoint</Application>
  <PresentationFormat>Custom</PresentationFormat>
  <Paragraphs>97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Noto Serif</vt:lpstr>
      <vt:lpstr>Noto Serif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Bhavik Talwar</cp:lastModifiedBy>
  <cp:revision>2</cp:revision>
  <dcterms:created xsi:type="dcterms:W3CDTF">2025-10-22T08:15:07Z</dcterms:created>
  <dcterms:modified xsi:type="dcterms:W3CDTF">2025-10-22T11:10:00Z</dcterms:modified>
</cp:coreProperties>
</file>